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02B9AD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463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2B9A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2194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REverse engineering SETtlement Agent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914400" y="2834640"/>
            <a:ext cx="1645920" cy="36576"/>
          </a:xfrm>
          <a:prstGeom prst="rect">
            <a:avLst/>
          </a:prstGeom>
          <a:solidFill>
            <a:srgbClr val="02B9A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017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레거시 DB Stored Procedure 자율 역공학 및 1:1 런타임 정합성 검증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&amp; Migration Roadmap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9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Stored Procedure 마이그레이션의 Pain Point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200"/>
              </a:spcAft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레거시 DB의 내부 로직(SP) 현대화는 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복잡한 의존성과 검증의 한계로 인해 높은 사업 리스크를 가집니다.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B9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수동 공수 90% 절감과 100% 검증 정합성 달성을 위한 자율 엔지니어링 브릿지가 필요합니다.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114800" y="1188720"/>
            <a:ext cx="21031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0" y="1188720"/>
            <a:ext cx="2103120" cy="45720"/>
          </a:xfrm>
          <a:prstGeom prst="rect">
            <a:avLst/>
          </a:prstGeom>
          <a:solidFill>
            <a:srgbClr val="02B9AD"/>
          </a:solidFill>
          <a:ln/>
        </p:spPr>
      </p:sp>
      <p:sp>
        <p:nvSpPr>
          <p:cNvPr id="7" name="Text 5"/>
          <p:cNvSpPr/>
          <p:nvPr/>
        </p:nvSpPr>
        <p:spPr>
          <a:xfrm>
            <a:off x="4251960" y="1325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9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유지보수성 저하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51960" y="16002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수천 라인의 SQL 코드와 복잡한 의존성으로 영향도 분석 곤란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0" y="1188720"/>
            <a:ext cx="21031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0" y="1188720"/>
            <a:ext cx="2103120" cy="45720"/>
          </a:xfrm>
          <a:prstGeom prst="rect">
            <a:avLst/>
          </a:prstGeom>
          <a:solidFill>
            <a:srgbClr val="02B9AD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325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9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수동 전환 리스크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37960" y="16002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C#/Java 수동 재작성 시 비즈니스 규칙 누락 및 휴먼 에러 빈번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0" y="2834640"/>
            <a:ext cx="21031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114800" y="2834640"/>
            <a:ext cx="2103120" cy="45720"/>
          </a:xfrm>
          <a:prstGeom prst="rect">
            <a:avLst/>
          </a:prstGeom>
          <a:solidFill>
            <a:srgbClr val="02B9AD"/>
          </a:solidFill>
          <a:ln/>
        </p:spPr>
      </p:sp>
      <p:sp>
        <p:nvSpPr>
          <p:cNvPr id="15" name="Text 13"/>
          <p:cNvSpPr/>
          <p:nvPr/>
        </p:nvSpPr>
        <p:spPr>
          <a:xfrm>
            <a:off x="4251960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9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검증의 한계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51960" y="32461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재구현 코드와 레거시의 데이터 1:1 일치 여부 검증 불가능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0" y="2834640"/>
            <a:ext cx="21031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0" y="2834640"/>
            <a:ext cx="2103120" cy="45720"/>
          </a:xfrm>
          <a:prstGeom prst="rect">
            <a:avLst/>
          </a:prstGeom>
          <a:solidFill>
            <a:srgbClr val="02B9AD"/>
          </a:solidFill>
          <a:ln/>
        </p:spPr>
      </p:sp>
      <p:sp>
        <p:nvSpPr>
          <p:cNvPr id="19" name="Text 17"/>
          <p:cNvSpPr/>
          <p:nvPr/>
        </p:nvSpPr>
        <p:spPr>
          <a:xfrm>
            <a:off x="6537960" y="2971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9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지식 파편화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7960" y="32461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설명 유실 및 실제 작동 쿼리와 노후화된 주석의 모순 발생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9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ReSet 시스템 아키텍처 및 구성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73152" cy="3291840"/>
          </a:xfrm>
          <a:prstGeom prst="rect">
            <a:avLst/>
          </a:prstGeom>
          <a:solidFill>
            <a:srgbClr val="02B9AD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9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지능형 역공학 엔진 (Analyzer)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1920240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재귀적 의존성 탐색 (SP / 테이블 / 뷰 / UDF)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확장 속성(Description) 수집 및 설명 누락 AI 보완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코드-주석 불일치 감지 및 클렌징 SQL 스크립트 덤프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Multi-SP 전환 계획 수립 및 작업 지시서 번들 패키징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188720"/>
            <a:ext cx="73152" cy="3291840"/>
          </a:xfrm>
          <a:prstGeom prst="rect">
            <a:avLst/>
          </a:prstGeom>
          <a:solidFill>
            <a:srgbClr val="00294B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29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소스코드 및 정합성 검증 엔진 (Validator)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029200" y="1920240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설계서 vs 신규 구현 소스코드 논리 Gap 분석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케이스 및 참조 무결성 기반 모의 데이터 자동 설계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샌드박스 DB Seeding 라이프사이클 격리 및 관리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양방향 런타임 결과 수집 및 1:1 값 정밀 대조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9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지능형 역공학 및 메타데이터 수집 (Analyzer)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9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하이브리드 재귀적 의존성 분석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재귀적 DFS 탐색 수집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sys.sql_expression_dependencies 활용, 연관 DB 객체 자동 탐색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동적 SQL Regex 2차 스캔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EXEC, sp_executesql 등 카탈로그 뷰 예외 구문 탐지 및 수집 병합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순환 참조 방지 설계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HashSet(visited) 기반의 무한 루프 차단 및 DB 부하 방지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9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메타데이터 수집 및 Soft Fail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정밀 스키마 정보 추출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타입, Null여부, PK/FK, DefaultValue, Identity 및 인덱스 정보 수집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한글 도메인 지식 맵핑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MS_Description 주석을 추출하여 AI 분석의 비즈니스 맥락으로 활용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Fail 안정성 정책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조회 권한 누락 등 예외 발생 시, Warnings에 기록하고 정상 분석 진행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9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3단계 신뢰성 검증 파이프라인 (Verification Pipeline)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80160"/>
            <a:ext cx="2377440" cy="457200"/>
          </a:xfrm>
          <a:prstGeom prst="rect">
            <a:avLst/>
          </a:prstGeom>
          <a:solidFill>
            <a:srgbClr val="02B9A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Level 1: 기계적 정적 검증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21579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Markdig AST 분석을 통한 5대 필수 헤더 누락 정적 검사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Mermaid 다이어그램 백그라운드 컴파일(mmdc) 검증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오류 감지 시 AI에 정형화된 피드백 전달 및 자가 수정 실행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54680" y="2743200"/>
            <a:ext cx="137160" cy="0"/>
          </a:xfrm>
          <a:prstGeom prst="line">
            <a:avLst/>
          </a:prstGeom>
          <a:noFill/>
          <a:ln w="25400">
            <a:solidFill>
              <a:srgbClr val="02B9A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337560" y="1280160"/>
            <a:ext cx="2377440" cy="457200"/>
          </a:xfrm>
          <a:prstGeom prst="rect">
            <a:avLst/>
          </a:prstGeom>
          <a:solidFill>
            <a:srgbClr val="00294B"/>
          </a:solidFill>
          <a:ln/>
        </p:spPr>
      </p:sp>
      <p:sp>
        <p:nvSpPr>
          <p:cNvPr id="10" name="Text 8"/>
          <p:cNvSpPr/>
          <p:nvPr/>
        </p:nvSpPr>
        <p:spPr>
          <a:xfrm>
            <a:off x="342900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Level 2: AI 교차 리뷰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47288" y="1828800"/>
            <a:ext cx="21579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Actor-Critic 앙상블: dynamic 강도 모델 병렬 가동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Low/Med/High 3종 후보 중 Critic 에이전트 정량 채점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90점 이상 Fast-Pass 채택, 미달 시 Consolidator 부위별 합성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760720" y="2743200"/>
            <a:ext cx="137160" cy="0"/>
          </a:xfrm>
          <a:prstGeom prst="line">
            <a:avLst/>
          </a:prstGeom>
          <a:noFill/>
          <a:ln w="25400">
            <a:solidFill>
              <a:srgbClr val="02B9A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0" y="1280160"/>
            <a:ext cx="2377440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60350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Level 3: 인간 승인 피드백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053328" y="1828800"/>
            <a:ext cx="21579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 실시간 미리보기 제공 및 승인/반려/수동 피드백 수렴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승인 시 DB Extended Property 역동기화 지원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배치 실행 모드 시 L3 프롬프트 단계를 생략하고 자동 우회 승인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9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교차 리뷰 (L2 Actor-Critic) 메커니즘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9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실행 모드 이원화 (ActorEffort)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단일 모드 (Single Mode)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지정된 단일 LLM 모델로 1차 명세서 빌드 진행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이종 Critic 에이전트의 4대 기준 평가 피드백 획득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결함 시 maxAttempts 한도 내 자가 수정 루프 가동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모드 (병렬 협업)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다형성 및 앙상블 효과 극대화를 위한 다단계 협업 프로세스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차등 생성, Critic 채점, Consolidator 합성을 결합하여 무결점 도출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9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dynamic 모드 3단계 프로세스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1단계: 차등 Effort 병렬 생성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동일 SP에 대해 low, medium, high 추론 강도를 병렬 구동하여 다각적 장점을 가진 3종의 후보 명세서 확보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2단계: Critic 채점 및 Fast-Pass 판정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정밀 채점(4대 기준 각 10점, 총 40점 만점) 후 100점 정규화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무결점 &amp; 90점 이상 후보는 Fast-Pass로 즉시 채택 (합성 생략)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3단계: Consolidation 합성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우수 후보 부재 시, 각 후보별 최고 득점을 기록한 우수 영역을 진실의 원천으로 조립 및 단일 통합 명세서 합성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9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메타데이터 정화 및 주석 보완 (Cleansing &amp; Annotation)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6576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188720"/>
            <a:ext cx="3657600" cy="45720"/>
          </a:xfrm>
          <a:prstGeom prst="rect">
            <a:avLst/>
          </a:prstGeom>
          <a:solidFill>
            <a:srgbClr val="02B9AD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9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지능형 도메인 보완 및 오류 감지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1828800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설명 누락 컬럼 역추론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JOIN, WHERE, 대입 등 SP 연산 문맥을 분석하여 용도 유추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[AI 추론 보완: Schema.Table.Column - 설명] 양식 자동 주입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코드-주석 불일치 감지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자연어 주석과 실제 SQL 실행 연산 간의 모순점 추적 및 감지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쿼리 코드를 진실의 원천으로 개요 최상단에 경고 명시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754880" y="1188720"/>
            <a:ext cx="36576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188720"/>
            <a:ext cx="3657600" cy="45720"/>
          </a:xfrm>
          <a:prstGeom prst="rect">
            <a:avLst/>
          </a:prstGeom>
          <a:solidFill>
            <a:srgbClr val="00294B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29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클렌징 스크립트 덤프 및 DB 동기화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0" y="1828800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클렌징 스크립트 자동 생성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역추론 설명을 DB 확장 속성에 채우기 위한 DDL 구성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sp_add/updateextendedproperty 기반 클렌징 쿼리 자동 덤프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선택적 DB 메타데이터 동기화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DB 쓰기는 개발자가 최종 승인/동의할 경우에만 수행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동기화 후 차기 분석 시 정화된 메타데이터를 기반으로 정확도 제고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9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정합성 검증 및 Sandbox Seeding 메커니즘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291840" y="1188720"/>
            <a:ext cx="256032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02B9AD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383280" y="12801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B9A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Sandbox DB Seeding 라이프사이클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474720" y="16459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참조 무결성을 준수하는 가상 데이터(Mock) 생성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테스트 시작 전 Sandbox DB에 자동 적재(Seed)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레거시 및 타겟 런타임 결과 수집 완료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적재 데이터 자동 소거(Cleanup) 상태 복원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31520" y="1188720"/>
            <a:ext cx="2286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2801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9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Legacy SQL Server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1645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설계된 테스트 파라미터로 레거시 DB Stored Procedure를 동적 실행하여 ResultSet을 JSON 덤프로 수집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1188720"/>
            <a:ext cx="2286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17920" y="12801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9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Target Runtime (C#/Java)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217920" y="1645920"/>
            <a:ext cx="2103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리플렉션 로드 후 DB 트랜잭션 Rollback 강제 적용 또는 Java 외부 프로세스 타임아웃 구동 결과 JSON 수집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31520" y="3474720"/>
            <a:ext cx="7680960" cy="109728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양방향 결과셋 1:1 값 정밀 대조 검증 (DataComparisonService)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39319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소수점 끝자리 차이 및 날짜 포맷팅에 따른 거짓 불일치(False Positive) 방지를 위해 NormalizeValueString을 적용하여 데이터 타입을 정형화한 후, 1:1 대조 비교 보고서(*_CompareReport.md)를 발행합니다.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17520" y="2194560"/>
            <a:ext cx="274320" cy="0"/>
          </a:xfrm>
          <a:prstGeom prst="line">
            <a:avLst/>
          </a:prstGeom>
          <a:noFill/>
          <a:ln w="19050">
            <a:solidFill>
              <a:srgbClr val="02B9A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5852160" y="2194560"/>
            <a:ext cx="274320" cy="0"/>
          </a:xfrm>
          <a:prstGeom prst="line">
            <a:avLst/>
          </a:prstGeom>
          <a:noFill/>
          <a:ln w="19050">
            <a:solidFill>
              <a:srgbClr val="02B9AD"/>
            </a:solidFill>
            <a:prstDash val="dash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294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마이그레이션 프로세스 및 로드맵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280160"/>
            <a:ext cx="2377440" cy="457200"/>
          </a:xfrm>
          <a:prstGeom prst="rect">
            <a:avLst/>
          </a:prstGeom>
          <a:solidFill>
            <a:srgbClr val="02B9A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1. 분석 및 캐싱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192024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M1: SP DDL &amp; 스키마 수집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의존성 추적 및 Warnings 누적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M2: 3단계 신뢰성 검증 파이프라인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L1/L2 자가보완 및 TUI 미리보기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M3: DDL 해시 증분 분석 캐싱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토큰 비용 및 대기시간 최소화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154680" y="2743200"/>
            <a:ext cx="137160" cy="0"/>
          </a:xfrm>
          <a:prstGeom prst="line">
            <a:avLst/>
          </a:prstGeom>
          <a:noFill/>
          <a:ln w="25400">
            <a:solidFill>
              <a:srgbClr val="02B9A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337560" y="1280160"/>
            <a:ext cx="2377440" cy="457200"/>
          </a:xfrm>
          <a:prstGeom prst="rect">
            <a:avLst/>
          </a:prstGeom>
          <a:solidFill>
            <a:srgbClr val="00294B"/>
          </a:solidFill>
          <a:ln/>
        </p:spPr>
      </p:sp>
      <p:sp>
        <p:nvSpPr>
          <p:cNvPr id="10" name="Text 8"/>
          <p:cNvSpPr/>
          <p:nvPr/>
        </p:nvSpPr>
        <p:spPr>
          <a:xfrm>
            <a:off x="342900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2. 자동 코드 생성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74720" y="192024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 순차 선택 기반 배치 순서 확보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M4: 작업 지시서 번들 패키징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설계서 및 DB 메타데이터 번들화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코딩 에이전트 자동 기동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부모 콘솔 상속 연동 및 양방향 제어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취소 시 좀비 방지 트리 강제 정리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760720" y="2743200"/>
            <a:ext cx="137160" cy="0"/>
          </a:xfrm>
          <a:prstGeom prst="line">
            <a:avLst/>
          </a:prstGeom>
          <a:noFill/>
          <a:ln w="25400">
            <a:solidFill>
              <a:srgbClr val="02B9A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0" y="1280160"/>
            <a:ext cx="2377440" cy="4572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60350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Phase 3. 정밀 비교 검증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080760" y="1920240"/>
            <a:ext cx="2103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M5: 소스코드-설계서 Gap 분석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TargetCode 기반 경로 매핑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M6: Sandbox 결과 1:1 비교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관계형 모의 데이터 적재/소거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양방향 실행 덤프 값 정밀 대조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정합성 결함 시 3단계 복구 루프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29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ReSet 도입 기대 효과 및 성공 지표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2377440" cy="3017520"/>
          </a:xfrm>
          <a:prstGeom prst="rect">
            <a:avLst/>
          </a:prstGeom>
          <a:solidFill>
            <a:srgbClr val="0B2545"/>
          </a:solidFill>
          <a:ln w="19050">
            <a:solidFill>
              <a:srgbClr val="02B9AD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2B9A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90%+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분석 및 계획 수립 시간 단축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7432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SP당 수동 분석 및 문서화에 걸리던 시간(평균 4시간)을 3분 이내로 단축하여 마이그레이션 공수를 획기적으로 낮춥니다.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37560" y="1280160"/>
            <a:ext cx="2377440" cy="3017520"/>
          </a:xfrm>
          <a:prstGeom prst="rect">
            <a:avLst/>
          </a:prstGeom>
          <a:solidFill>
            <a:srgbClr val="0B2545"/>
          </a:solidFill>
          <a:ln w="19050">
            <a:solidFill>
              <a:srgbClr val="02B9AD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0%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42900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설계 산출물 결함률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474720" y="27432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Mermaid 다이어그램 컴파일 린팅 및 L1/L2 AI 자가 교정 피드백 루프를 통해 산출물 오류 발생률 0%를 달성합니다.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0" y="1280160"/>
            <a:ext cx="2377440" cy="3017520"/>
          </a:xfrm>
          <a:prstGeom prst="rect">
            <a:avLst/>
          </a:prstGeom>
          <a:solidFill>
            <a:srgbClr val="0B2545"/>
          </a:solidFill>
          <a:ln w="19050">
            <a:solidFill>
              <a:srgbClr val="02B9AD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03504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2B9A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603504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런타임 로직 정합성 보장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080760" y="27432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DB 환경에서 1:1로 실제 데이터 실행 결과를 정밀 비교 대조함으로써, 이관 과정의 휴먼 에러를 완전 배제합니다.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ReSet Project Presentation</dc:title>
  <dc:subject>PptxGenJS Presentation</dc:subject>
  <dc:creator>Antigravity AI</dc:creator>
  <cp:lastModifiedBy>Antigravity AI</cp:lastModifiedBy>
  <cp:revision>1</cp:revision>
  <dcterms:created xsi:type="dcterms:W3CDTF">2026-07-01T14:08:17Z</dcterms:created>
  <dcterms:modified xsi:type="dcterms:W3CDTF">2026-07-01T14:08:17Z</dcterms:modified>
</cp:coreProperties>
</file>